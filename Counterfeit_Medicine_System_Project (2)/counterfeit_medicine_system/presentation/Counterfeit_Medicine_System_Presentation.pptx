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45720"/>
            <a:ext cx="3840480" cy="3840480"/>
          </a:xfrm>
          <a:prstGeom prst="ellipse">
            <a:avLst/>
          </a:prstGeom>
          <a:solidFill>
            <a:srgbClr val="1746A7"/>
          </a:solidFill>
          <a:ln>
            <a:solidFill>
              <a:srgbClr val="17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3977639"/>
            <a:ext cx="3429000" cy="2697480"/>
          </a:xfrm>
          <a:prstGeom prst="ellipse">
            <a:avLst/>
          </a:prstGeom>
          <a:solidFill>
            <a:srgbClr val="15356E"/>
          </a:solidFill>
          <a:ln>
            <a:solidFill>
              <a:srgbClr val="15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76656" cy="6766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704088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7556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47C5E9"/>
                </a:solidFill>
                <a:latin typeface="Aptos"/>
              </a:defRPr>
            </a:pPr>
            <a:r>
              <a:t>STUDENT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800" b="1" i="0">
                <a:solidFill>
                  <a:srgbClr val="FFFFFF"/>
                </a:solidFill>
                <a:latin typeface="Aptos Display"/>
              </a:defRPr>
            </a:pPr>
            <a:r>
              <a:t>Counterfeit</a:t>
            </a:r>
          </a:p>
          <a:p>
            <a:pPr algn="l">
              <a:spcAft>
                <a:spcPts val="400"/>
              </a:spcAft>
              <a:defRPr sz="3800" b="1" i="0">
                <a:solidFill>
                  <a:srgbClr val="FFFFFF"/>
                </a:solidFill>
                <a:latin typeface="Aptos Display"/>
              </a:defRPr>
            </a:pPr>
            <a:r>
              <a:t>Medicine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16052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D8E6FF"/>
                </a:solidFill>
                <a:latin typeface="Aptos"/>
              </a:defRPr>
            </a:pPr>
            <a:r>
              <a:t>A medicine label screening prototype using product-reference data and date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349240"/>
            <a:ext cx="3063240" cy="502920"/>
          </a:xfrm>
          <a:prstGeom prst="roundRect">
            <a:avLst>
              <a:gd name="adj" fmla="val 13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77256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PYTHON  ·  STREAMLIT  · 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965960"/>
            <a:ext cx="2240280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03120"/>
            <a:ext cx="196596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452628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D7E9FF"/>
                </a:solidFill>
                <a:latin typeface="Aptos"/>
              </a:defRPr>
            </a:pPr>
            <a:r>
              <a:t>VERIFY WITH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8BBDD"/>
                </a:solidFill>
                <a:latin typeface="Aptos"/>
              </a:defRPr>
            </a:pPr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01 /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The problem and 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2578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883664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92808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48006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A label can contain a real medicine name while the specific pack, batch or printed details remain unverified. Users need help reviewing obvious mismatches and knowing when to seek expert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00784"/>
            <a:ext cx="52578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883664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01952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087F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78024"/>
            <a:ext cx="48006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Build a simple interface where users enter label details, compare product information against reference listings and receive a careful result with clear limitations.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13632"/>
            <a:ext cx="10799064" cy="1572768"/>
          </a:xfrm>
          <a:prstGeom prst="roundRect">
            <a:avLst>
              <a:gd name="adj" fmla="val 13000"/>
            </a:avLst>
          </a:prstGeom>
          <a:solidFill>
            <a:srgbClr val="10233F"/>
          </a:solidFill>
          <a:ln>
            <a:solidFill>
              <a:srgbClr val="10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87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47C5E9"/>
                </a:solidFill>
                <a:latin typeface="Aptos"/>
              </a:defRPr>
            </a:pPr>
            <a:r>
              <a:t>CORE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61772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FFFFFF"/>
                </a:solidFill>
                <a:latin typeface="Aptos Display"/>
              </a:defRPr>
            </a:pPr>
            <a:r>
              <a:t>A reference match is not proof of a genuine batch.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02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What the prototype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456432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874520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83664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Label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68880"/>
            <a:ext cx="299923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Medicine name, manufacturer, batch number, manufacturing date, expiry date, country/location and optional product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691640"/>
            <a:ext cx="3456432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1874520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8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883664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Reference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68880"/>
            <a:ext cx="299923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Compares product names and exact product or package NDC codes when present in the loaded catalogue.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691640"/>
            <a:ext cx="3456432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1874520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892808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1883664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Screening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68880"/>
            <a:ext cx="299923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Shows reference matches, product-code conflicts, missing matches and inconsistent 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41648"/>
            <a:ext cx="10799064" cy="1389888"/>
          </a:xfrm>
          <a:prstGeom prst="roundRect">
            <a:avLst>
              <a:gd name="adj" fmla="val 13000"/>
            </a:avLst>
          </a:prstGeom>
          <a:solidFill>
            <a:srgbClr val="FFF6E6"/>
          </a:solidFill>
          <a:ln>
            <a:solidFill>
              <a:srgbClr val="F2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66D0B"/>
                </a:solidFill>
                <a:latin typeface="Aptos"/>
              </a:defRPr>
            </a:pPr>
            <a:r>
              <a:t>OUT OF SCOPE IN THIS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90872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0233F"/>
                </a:solidFill>
                <a:latin typeface="Aptos"/>
              </a:defRPr>
            </a:pPr>
            <a:r>
              <a:t>No manufacturer batch API, no QR serialization verification, and no automatic CDSCO import.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03 /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76272"/>
            <a:ext cx="1719072" cy="1920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7" y="2450592"/>
            <a:ext cx="585216" cy="585216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56946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461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Enter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118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User fills the medicine details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3127248"/>
            <a:ext cx="49377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2871216" y="3008376"/>
            <a:ext cx="182880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8" y="2176272"/>
            <a:ext cx="1719072" cy="1920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1296" y="2450592"/>
            <a:ext cx="585216" cy="585216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56946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461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6118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Check missing values and dates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0016" y="3127248"/>
            <a:ext cx="49377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5175504" y="3008376"/>
            <a:ext cx="182880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8656" y="2176272"/>
            <a:ext cx="1719072" cy="1920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450592"/>
            <a:ext cx="585216" cy="585216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56946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2461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6118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Query local SQLite reference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04304" y="3127248"/>
            <a:ext cx="493775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479792" y="3008376"/>
            <a:ext cx="182880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52944" y="2176272"/>
            <a:ext cx="1719072" cy="1920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9871" y="2450592"/>
            <a:ext cx="585216" cy="585216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256946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6118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Review name and NDC code matches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08592" y="3127248"/>
            <a:ext cx="493775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9784080" y="3008376"/>
            <a:ext cx="182880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57232" y="2176272"/>
            <a:ext cx="1719072" cy="1920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24159" y="2450592"/>
            <a:ext cx="585216" cy="585216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59" y="256946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76104" y="32461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36118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Show findings and next steps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4709160"/>
            <a:ext cx="1014984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491947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746A7"/>
                </a:solidFill>
                <a:latin typeface="Aptos"/>
              </a:defRPr>
            </a:pPr>
            <a:r>
              <a:t>The batch number is captured in the report, but not verified against a manufacturer system.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04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Interactive application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7452360" cy="4315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481328" cy="3977639"/>
          </a:xfrm>
          <a:prstGeom prst="roundRect">
            <a:avLst>
              <a:gd name="adj" fmla="val 13000"/>
            </a:avLst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025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30" b="0" i="0">
                <a:solidFill>
                  <a:srgbClr val="667992"/>
                </a:solidFill>
                <a:latin typeface="Aptos"/>
              </a:defRPr>
            </a:pPr>
            <a:r>
              <a:t>⌂ 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54096"/>
            <a:ext cx="1298448" cy="438912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18103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30" b="1" i="0">
                <a:solidFill>
                  <a:srgbClr val="2563EB"/>
                </a:solidFill>
                <a:latin typeface="Aptos"/>
              </a:defRPr>
            </a:pPr>
            <a:r>
              <a:t>⌕  Verify medicine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941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30" b="0" i="0">
                <a:solidFill>
                  <a:srgbClr val="667992"/>
                </a:solidFill>
                <a:latin typeface="Aptos"/>
              </a:defRPr>
            </a:pPr>
            <a:r>
              <a:t>▦  Medicine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702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30" b="0" i="0">
                <a:solidFill>
                  <a:srgbClr val="667992"/>
                </a:solidFill>
                <a:latin typeface="Aptos"/>
              </a:defRPr>
            </a:pPr>
            <a:r>
              <a:t>ⓘ 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90195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0233F"/>
                </a:solidFill>
                <a:latin typeface="Aptos"/>
              </a:defRPr>
            </a:pPr>
            <a:r>
              <a:t>Check a medicine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3042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67992"/>
                </a:solidFill>
                <a:latin typeface="Aptos"/>
              </a:defRPr>
            </a:pPr>
            <a:r>
              <a:t>Enter the details printed on the pack.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78892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67992"/>
                </a:solidFill>
                <a:latin typeface="Aptos"/>
              </a:defRPr>
            </a:pPr>
            <a:r>
              <a:t>Medicine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6896" y="3044952"/>
            <a:ext cx="2249424" cy="411480"/>
          </a:xfrm>
          <a:prstGeom prst="roundRect">
            <a:avLst>
              <a:gd name="adj" fmla="val 13000"/>
            </a:avLst>
          </a:prstGeom>
          <a:solidFill>
            <a:srgbClr val="FBFD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145536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60" b="0" i="0">
                <a:solidFill>
                  <a:srgbClr val="10233F"/>
                </a:solidFill>
                <a:latin typeface="Aptos"/>
              </a:defRPr>
            </a:pPr>
            <a:r>
              <a:t>DEMO Paracetamol 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78892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67992"/>
                </a:solidFill>
                <a:latin typeface="Aptos"/>
              </a:defRPr>
            </a:pPr>
            <a:r>
              <a:t>Manufacturer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3044952"/>
            <a:ext cx="2249424" cy="411480"/>
          </a:xfrm>
          <a:prstGeom prst="roundRect">
            <a:avLst>
              <a:gd name="adj" fmla="val 13000"/>
            </a:avLst>
          </a:prstGeom>
          <a:solidFill>
            <a:srgbClr val="FBFD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3145536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60" b="0" i="0">
                <a:solidFill>
                  <a:srgbClr val="10233F"/>
                </a:solidFill>
                <a:latin typeface="Aptos"/>
              </a:defRPr>
            </a:pPr>
            <a:r>
              <a:t>Demo Therapeutics Ltd.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377647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67992"/>
                </a:solidFill>
                <a:latin typeface="Aptos"/>
              </a:defRPr>
            </a:pPr>
            <a:r>
              <a:t>Batch / 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96896" y="4032504"/>
            <a:ext cx="2249424" cy="411480"/>
          </a:xfrm>
          <a:prstGeom prst="roundRect">
            <a:avLst>
              <a:gd name="adj" fmla="val 13000"/>
            </a:avLst>
          </a:prstGeom>
          <a:solidFill>
            <a:srgbClr val="FBFD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88336" y="4133087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60" b="0" i="0">
                <a:solidFill>
                  <a:srgbClr val="10233F"/>
                </a:solidFill>
                <a:latin typeface="Aptos"/>
              </a:defRPr>
            </a:pPr>
            <a:r>
              <a:t>DEMO-BATCH-001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77647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67992"/>
                </a:solidFill>
                <a:latin typeface="Aptos"/>
              </a:defRPr>
            </a:pPr>
            <a:r>
              <a:t>Product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4032504"/>
            <a:ext cx="2249424" cy="411480"/>
          </a:xfrm>
          <a:prstGeom prst="roundRect">
            <a:avLst>
              <a:gd name="adj" fmla="val 13000"/>
            </a:avLst>
          </a:prstGeom>
          <a:solidFill>
            <a:srgbClr val="FBFD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2936" y="4133087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60" b="0" i="0">
                <a:solidFill>
                  <a:srgbClr val="10233F"/>
                </a:solidFill>
                <a:latin typeface="Aptos"/>
              </a:defRPr>
            </a:pPr>
            <a:r>
              <a:t>DEMO-001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96896" y="4965192"/>
            <a:ext cx="2971800" cy="484632"/>
          </a:xfrm>
          <a:prstGeom prst="roundRect">
            <a:avLst>
              <a:gd name="adj" fmla="val 13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51114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Review medicine details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LIVE DEMO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86000"/>
            <a:ext cx="292608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Open Verify medicine.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Click Load sample presentation case.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Submit the form and show the result.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Change a date to demonstrate the warning.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4800600"/>
            <a:ext cx="2907792" cy="914400"/>
          </a:xfrm>
          <a:prstGeom prst="roundRect">
            <a:avLst>
              <a:gd name="adj" fmla="val 13000"/>
            </a:avLst>
          </a:prstGeom>
          <a:solidFill>
            <a:srgbClr val="FFF6E6"/>
          </a:solidFill>
          <a:ln>
            <a:solidFill>
              <a:srgbClr val="F2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501091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B66D0B"/>
                </a:solidFill>
                <a:latin typeface="Aptos"/>
              </a:defRPr>
            </a:pPr>
            <a:r>
              <a:t>The sample is fictional. Use it to demonstrate the UI, not as medical evidence.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05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Reference data and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193792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901952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911095"/>
            <a:ext cx="4261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Offline demo 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96312"/>
            <a:ext cx="47365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12 clearly labelled fictional records are included so the interface works before any network sync. They must not be presented as real medicines.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19072"/>
            <a:ext cx="5193792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901952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087F68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911095"/>
            <a:ext cx="4261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Reference data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96312"/>
            <a:ext cx="47365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67992"/>
                </a:solidFill>
                <a:latin typeface="Aptos"/>
              </a:defRPr>
            </a:pPr>
            <a:r>
              <a:t>The app has a sync feature targeting 500 unique finished-product listings from the openFDA NDC Directory. An internet connection is required to download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69080"/>
            <a:ext cx="10661904" cy="129844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DATA SOURCE CAVEAT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0233F"/>
                </a:solidFill>
                <a:latin typeface="Aptos"/>
              </a:defRPr>
            </a:pPr>
            <a:r>
              <a:t>US-focused, labeler-submitted product listings. Not proof of FDA approval, Indian approval or batch authenticity.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6692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1">
                <a:solidFill>
                  <a:srgbClr val="667992"/>
                </a:solidFill>
                <a:latin typeface="Aptos"/>
              </a:defRPr>
            </a:pPr>
            <a:r>
              <a:t>For India-specific alerts, the app links to CDSCO resources, but does not automatically import CDSCO records.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06 /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How results are presented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230368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883664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92808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Reference found, batch unverified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4773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20" b="0" i="0">
                <a:solidFill>
                  <a:srgbClr val="667992"/>
                </a:solidFill>
                <a:latin typeface="Aptos"/>
              </a:defRPr>
            </a:pPr>
            <a:r>
              <a:t>A product listing matched. The pack still needs a trusted batch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700784"/>
            <a:ext cx="5230368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7648" y="1883664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01952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B66D0B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1892808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Product code needs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78024"/>
            <a:ext cx="4773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20" b="0" i="0">
                <a:solidFill>
                  <a:srgbClr val="667992"/>
                </a:solidFill>
                <a:latin typeface="Aptos"/>
              </a:defRPr>
            </a:pPr>
            <a:r>
              <a:t>The name matched, but the entered NDC code did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47288"/>
            <a:ext cx="5230368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3630168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48456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B4233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639312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Date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24528"/>
            <a:ext cx="4773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20" b="0" i="0">
                <a:solidFill>
                  <a:srgbClr val="667992"/>
                </a:solidFill>
                <a:latin typeface="Aptos"/>
              </a:defRPr>
            </a:pPr>
            <a:r>
              <a:t>Manufacturing or expiry dates are inconsistent or outside the expected range.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447288"/>
            <a:ext cx="5230368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7648" y="3630168"/>
            <a:ext cx="420624" cy="420624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648456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66799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3639312"/>
            <a:ext cx="4297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50" b="1" i="0">
                <a:solidFill>
                  <a:srgbClr val="10233F"/>
                </a:solidFill>
                <a:latin typeface="Aptos"/>
              </a:defRPr>
            </a:pPr>
            <a:r>
              <a:t>No reference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24528"/>
            <a:ext cx="4773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20" b="0" i="0">
                <a:solidFill>
                  <a:srgbClr val="667992"/>
                </a:solidFill>
                <a:latin typeface="Aptos"/>
              </a:defRPr>
            </a:pPr>
            <a:r>
              <a:t>No match was found in the loaded catalogue. Missing data is inconclusive.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The app avoids a “Genuine” or “Counterfeit” verdict because the connected reference source does not authenticate batches.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07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Architecture and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03120"/>
            <a:ext cx="4800600" cy="621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2203703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Input forms and navigation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9816" y="2734056"/>
            <a:ext cx="36576" cy="164592"/>
          </a:xfrm>
          <a:prstGeom prst="rect">
            <a:avLst/>
          </a:prstGeom>
          <a:solidFill>
            <a:srgbClr val="B8CFFB"/>
          </a:solidFill>
          <a:ln>
            <a:solidFill>
              <a:srgbClr val="B8C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1"/>
            <a:ext cx="4800600" cy="621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992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Validation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008375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Date checks and comparisons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6" y="3538727"/>
            <a:ext cx="36576" cy="164592"/>
          </a:xfrm>
          <a:prstGeom prst="rect">
            <a:avLst/>
          </a:prstGeom>
          <a:solidFill>
            <a:srgbClr val="B8CFFB"/>
          </a:solidFill>
          <a:ln>
            <a:solidFill>
              <a:srgbClr val="B8C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3712463"/>
            <a:ext cx="4800600" cy="621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03903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81304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Locally stored listings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9816" y="4343400"/>
            <a:ext cx="36576" cy="164592"/>
          </a:xfrm>
          <a:prstGeom prst="rect">
            <a:avLst/>
          </a:prstGeom>
          <a:solidFill>
            <a:srgbClr val="B8CFFB"/>
          </a:solidFill>
          <a:ln>
            <a:solidFill>
              <a:srgbClr val="B8C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4517136"/>
            <a:ext cx="4800600" cy="621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08575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Results and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461772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667992"/>
                </a:solidFill>
                <a:latin typeface="Aptos"/>
              </a:defRPr>
            </a:pPr>
            <a:r>
              <a:t>Messages and CSV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91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84831"/>
            <a:ext cx="228600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203703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746A7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05456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950" b="0" i="0">
                <a:solidFill>
                  <a:srgbClr val="667992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084831"/>
            <a:ext cx="228600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203703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746A7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2505456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950" b="0" i="0">
                <a:solidFill>
                  <a:srgbClr val="667992"/>
                </a:solidFill>
                <a:latin typeface="Aptos"/>
              </a:defRPr>
            </a:pPr>
            <a:r>
              <a:t>Interactive web 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090672"/>
            <a:ext cx="228600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20954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746A7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511296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950" b="0" i="0">
                <a:solidFill>
                  <a:srgbClr val="667992"/>
                </a:solidFill>
                <a:latin typeface="Aptos"/>
              </a:defRPr>
            </a:pPr>
            <a:r>
              <a:t>Local storage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090672"/>
            <a:ext cx="228600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320954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746A7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3511296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950" b="0" i="0">
                <a:solidFill>
                  <a:srgbClr val="667992"/>
                </a:solidFill>
                <a:latin typeface="Aptos"/>
              </a:defRPr>
            </a:pPr>
            <a:r>
              <a:t>Table and CSV export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096512"/>
            <a:ext cx="2286000" cy="749808"/>
          </a:xfrm>
          <a:prstGeom prst="roundRect">
            <a:avLst>
              <a:gd name="adj" fmla="val 13000"/>
            </a:avLst>
          </a:prstGeom>
          <a:solidFill>
            <a:srgbClr val="EAF2FF"/>
          </a:solidFill>
          <a:ln>
            <a:solidFill>
              <a:srgbClr val="D6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21538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746A7"/>
                </a:solidFill>
                <a:latin typeface="Aptos"/>
              </a:defRPr>
            </a:pPr>
            <a:r>
              <a:t>requests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517136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950" b="0" i="0">
                <a:solidFill>
                  <a:srgbClr val="667992"/>
                </a:solidFill>
                <a:latin typeface="Aptos"/>
              </a:defRPr>
            </a:pPr>
            <a:r>
              <a:t>Public API sync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08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0233F"/>
                </a:solidFill>
                <a:latin typeface="Aptos Display"/>
              </a:defRPr>
            </a:pPr>
            <a: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66799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12080" cy="3611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B66D0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4526280" cy="2423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No manufacturer batch verification connection.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No barcode or QR scan verification.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No automatic CDSCO data import.</a:t>
            </a:r>
          </a:p>
          <a:p>
            <a:pPr>
              <a:spcAft>
                <a:spcPts val="900"/>
              </a:spcAft>
              <a:defRPr sz="1400">
                <a:solidFill>
                  <a:srgbClr val="10233F"/>
                </a:solidFill>
                <a:latin typeface="Aptos"/>
              </a:defRPr>
            </a:pPr>
            <a:r>
              <a:t>•  Product name and code matches can be copied by counterfeit packaging.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19072"/>
            <a:ext cx="5212080" cy="3611880"/>
          </a:xfrm>
          <a:prstGeom prst="roundRect">
            <a:avLst>
              <a:gd name="adj" fmla="val 13000"/>
            </a:avLst>
          </a:prstGeom>
          <a:solidFill>
            <a:srgbClr val="10233F"/>
          </a:solidFill>
          <a:ln>
            <a:solidFill>
              <a:srgbClr val="10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11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47C5E9"/>
                </a:solidFill>
                <a:latin typeface="Aptos"/>
              </a:defRPr>
            </a:pPr>
            <a:r>
              <a:t>FUTURE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87168"/>
            <a:ext cx="4480560" cy="2423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Use an authorized Indian medicine reference source.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Connect a manufacturer-approved serial or batch API.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Add QR/barcode scanning with server-side checks.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Validate with pharmacists and tested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Next milestone: replace reference-only screening with a trusted batch-level verification integration.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1" i="0">
                <a:solidFill>
                  <a:srgbClr val="8B9AB0"/>
                </a:solidFill>
                <a:latin typeface="Aptos"/>
              </a:defRPr>
            </a:pPr>
            <a:r>
              <a:t>COUNTERFEIT MEDICINE SYSTEM  ·  STUDENT PROJECT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8832" y="6537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8B9AB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45720"/>
            <a:ext cx="3840480" cy="3840480"/>
          </a:xfrm>
          <a:prstGeom prst="ellipse">
            <a:avLst/>
          </a:prstGeom>
          <a:solidFill>
            <a:srgbClr val="1746A7"/>
          </a:solidFill>
          <a:ln>
            <a:solidFill>
              <a:srgbClr val="17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3977639"/>
            <a:ext cx="3429000" cy="2697480"/>
          </a:xfrm>
          <a:prstGeom prst="ellipse">
            <a:avLst/>
          </a:prstGeom>
          <a:solidFill>
            <a:srgbClr val="15356E"/>
          </a:solidFill>
          <a:ln>
            <a:solidFill>
              <a:srgbClr val="15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713232"/>
            <a:ext cx="777240" cy="7772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813816"/>
            <a:ext cx="576072" cy="576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6596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44368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47C5E9"/>
                </a:solidFill>
                <a:latin typeface="Aptos"/>
              </a:defRPr>
            </a:pPr>
            <a:r>
              <a:t>Questions and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75887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D8E6FF"/>
                </a:solidFill>
                <a:latin typeface="Aptos"/>
              </a:defRPr>
            </a:pPr>
            <a:r>
              <a:t>A screening aid for product-reference checks, with clear limitations and a roadmap toward authorized batch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02352"/>
            <a:ext cx="3657600" cy="530352"/>
          </a:xfrm>
          <a:prstGeom prst="roundRect">
            <a:avLst>
              <a:gd name="adj" fmla="val 13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COUNTERFEIT MEDICINE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A8BBDD"/>
                </a:solidFill>
                <a:latin typeface="Aptos"/>
              </a:defRPr>
            </a:pPr>
            <a:r>
              <a:t>Thank you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Counterfeit Medicine System</dc:title>
  <dc:subject>Student project presentation</dc:subject>
  <dc:creator>Project team</dc:creator>
  <cp:keywords>medicine reference, Streamlit, SQLite, screening prototype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